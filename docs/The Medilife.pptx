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9" r:id="rId2"/>
    <p:sldId id="260" r:id="rId3"/>
    <p:sldId id="262" r:id="rId4"/>
    <p:sldId id="275" r:id="rId5"/>
    <p:sldId id="263" r:id="rId6"/>
    <p:sldId id="268" r:id="rId7"/>
    <p:sldId id="276" r:id="rId8"/>
    <p:sldId id="269" r:id="rId9"/>
    <p:sldId id="270" r:id="rId10"/>
    <p:sldId id="271" r:id="rId11"/>
    <p:sldId id="272" r:id="rId12"/>
    <p:sldId id="264" r:id="rId13"/>
    <p:sldId id="265" r:id="rId14"/>
    <p:sldId id="266" r:id="rId15"/>
    <p:sldId id="267" r:id="rId16"/>
    <p:sldId id="277" r:id="rId17"/>
    <p:sldId id="278" r:id="rId18"/>
    <p:sldId id="279" r:id="rId19"/>
    <p:sldId id="280" r:id="rId20"/>
    <p:sldId id="274" r:id="rId21"/>
    <p:sldId id="27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8B7F0-5E43-431F-BDE1-32DE1BB23599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50726B-1EF9-4954-9406-ADF10ADF09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848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BF50C-4D57-4689-B1EA-297043265C1B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C9E70-9EB8-4599-8810-D3B846B63903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F06E-CD1B-4301-991F-BAB9ABF46E5D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840E3-E52F-4B1B-9B7D-4BF87E01C946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52044-AFDA-4274-A4D6-399EA0B91BF2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184C-73BF-4B2E-AE72-88BE9A487F2E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5EC1-6E0E-4103-B6A0-D379B42A0FB4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8D344-F9A9-4A77-B454-7250E224E1C7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A00BB-C2EB-492F-8A60-A3A5E51FD0AB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961FE-2CA9-4B19-959C-17C7F8D1DA5F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BEE7-20AB-47A9-89CA-98BC1BBE52A4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DD6-9D06-4BF0-878A-8B880DEB7DE8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9D341-E087-443F-BA9B-20814FC5BC96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846F-FEB4-4FFA-8699-52E4C5746C02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2A53-0058-49C7-9F87-C0462F24585B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E0869-D36E-42C8-BFEC-D126EA7A0815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8F75B-F450-4598-9E5A-C3C594F17E8F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680569" y="526093"/>
            <a:ext cx="636183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Shree Chanakya Education Society’s</a:t>
            </a:r>
          </a:p>
          <a:p>
            <a:r>
              <a:rPr lang="en-US" sz="4000" dirty="0">
                <a:ln w="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Indira College of Commerce &amp; Science, Wakad, Pune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031979" y="2403530"/>
            <a:ext cx="2651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4788" y="3080638"/>
            <a:ext cx="54457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Monotype Corsiva" panose="03010101010201010101" pitchFamily="66" charset="0"/>
              </a:rPr>
              <a:t>	“The Medilife”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0492" y="5348212"/>
            <a:ext cx="2807179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Pramod M. Deore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Shivprasad S. Ravate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M.Sc.(CA)-II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5458" y="292222"/>
            <a:ext cx="2539683" cy="19555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90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146115" y="259466"/>
            <a:ext cx="35189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Medilife?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668044" y="1077238"/>
            <a:ext cx="8016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18357" y="1603332"/>
            <a:ext cx="860231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Medilife is an AI-powered healthcare web application that predicts multiple diseases including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Diabetes, Heart Disease, Breast Cancer, CKD, Liver Disease, Malaria, Pneumonia, and Diabetic Retinopathy.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enter medical details or upload medical images like X-rays and blood smear scans to get instant prediction results with confidence scores.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built using Flask, Scikit-learn, TensorFlow, PostgreSQL.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includes an AI healthcare chatbot, doctor appointment booking, prediction history, and downloadable reports.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22" y="259466"/>
            <a:ext cx="1874913" cy="187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2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71375" y="259466"/>
            <a:ext cx="36216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it’s needed ?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668044" y="1077238"/>
            <a:ext cx="8016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755726" y="1352811"/>
            <a:ext cx="8254396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Unhealthy lifestyles, poor diet, stress, and pollution are driving a rapid rise in chronic diseases.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diagnosis is time-consuming and expensive, requiring repeated hospital visits.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India lacks specialist doctors, making timely medical care inaccessible for millions.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system like Medilife is a must for fast, accessible, and affordable disease screening.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00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F16BB-B408-8241-8F47-20F9CD490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C6884E-49A3-3499-2005-EAC4EAB2A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482DAA-A900-838D-EAB7-DB5C4550B3A9}"/>
              </a:ext>
            </a:extLst>
          </p:cNvPr>
          <p:cNvSpPr txBox="1"/>
          <p:nvPr/>
        </p:nvSpPr>
        <p:spPr>
          <a:xfrm>
            <a:off x="4393299" y="259466"/>
            <a:ext cx="33778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3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BF46CB-108A-650D-2178-ACE2094A7C0B}"/>
              </a:ext>
            </a:extLst>
          </p:cNvPr>
          <p:cNvCxnSpPr/>
          <p:nvPr/>
        </p:nvCxnSpPr>
        <p:spPr>
          <a:xfrm>
            <a:off x="2668044" y="1077238"/>
            <a:ext cx="8016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88C8DCA-FE30-0DA2-B0C9-1634BFEE1948}"/>
              </a:ext>
            </a:extLst>
          </p:cNvPr>
          <p:cNvSpPr txBox="1"/>
          <p:nvPr/>
        </p:nvSpPr>
        <p:spPr>
          <a:xfrm>
            <a:off x="2793048" y="1688222"/>
            <a:ext cx="7367988" cy="3477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User enters symptoms or uploads medical images</a:t>
            </a:r>
            <a:endParaRPr lang="en-US" sz="2400" dirty="0"/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System preprocesses and validates the data</a:t>
            </a:r>
            <a:endParaRPr lang="en-US" sz="2400" dirty="0"/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ML/DL models analyze the input</a:t>
            </a:r>
            <a:endParaRPr lang="en-US" sz="2400" dirty="0"/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Prediction results are generated</a:t>
            </a:r>
            <a:endParaRPr lang="en-US" sz="2400" dirty="0"/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Results displayed with confidence scores</a:t>
            </a:r>
            <a:endParaRPr lang="en-US" sz="2400" dirty="0"/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Records stored securely in database</a:t>
            </a: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28BEC0-8279-61A2-BEEF-F75943D6D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33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71375" y="259466"/>
            <a:ext cx="5156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H/W &amp; S/W Requirements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668044" y="1077238"/>
            <a:ext cx="8016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668044" y="1578279"/>
            <a:ext cx="938710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 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Core i7 or higher processor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GB RAM and 512 GB SSD storage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NVIDIA GPU for Deep Learning tasks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with multi-core processor, 4–8 GB RAM, and 50 GB storage</a:t>
            </a:r>
          </a:p>
          <a:p>
            <a:pPr lvl="1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 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Systems: Windows 10/11, Ubuntu Linux, macOS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 Python 3.10, Flask, HTML, CSS, JavaScript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ML/DL Libraries: Scikit-learn, TensorFlow, Keras, NumPy, Pandas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Tools: PostgreSQL, GitHub, Ollama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Browsers: Google Chrome, Mozilla Firefox, Microsoft Edge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392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897675" y="259466"/>
            <a:ext cx="3104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668044" y="1077238"/>
            <a:ext cx="8016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902AF5-B28A-FA61-86BA-9639A5DC5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524" y="1175659"/>
            <a:ext cx="9115113" cy="542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31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B706A-8BFE-6EEC-8F45-5703DEFE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9B74E-3A9E-ADDA-38CB-3FB4364D6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11B84-67B8-84B9-77D7-CDDAA334A9F1}"/>
              </a:ext>
            </a:extLst>
          </p:cNvPr>
          <p:cNvSpPr txBox="1"/>
          <p:nvPr/>
        </p:nvSpPr>
        <p:spPr>
          <a:xfrm>
            <a:off x="4897675" y="147623"/>
            <a:ext cx="3104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704EB7-5F62-F091-109A-AF8224FA7F6A}"/>
              </a:ext>
            </a:extLst>
          </p:cNvPr>
          <p:cNvCxnSpPr/>
          <p:nvPr/>
        </p:nvCxnSpPr>
        <p:spPr>
          <a:xfrm>
            <a:off x="2677375" y="798172"/>
            <a:ext cx="8016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76D15E6C-5217-BE2B-2A1B-72051BEBE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  <p:pic>
        <p:nvPicPr>
          <p:cNvPr id="6" name="Picture 5" descr="PlantUML diagram">
            <a:extLst>
              <a:ext uri="{FF2B5EF4-FFF2-40B4-BE49-F238E27FC236}">
                <a16:creationId xmlns:a16="http://schemas.microsoft.com/office/drawing/2014/main" id="{BC062DFD-296D-6B22-E4DF-D6CA336CA3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570" y="802399"/>
            <a:ext cx="5112462" cy="6055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4E0D89-5873-9353-78B9-141B6D9B6DD0}"/>
              </a:ext>
            </a:extLst>
          </p:cNvPr>
          <p:cNvSpPr txBox="1"/>
          <p:nvPr/>
        </p:nvSpPr>
        <p:spPr>
          <a:xfrm>
            <a:off x="2396279" y="945798"/>
            <a:ext cx="25013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  <a:r>
              <a:rPr lang="en-US" b="1" dirty="0"/>
              <a:t>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 :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975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897675" y="259466"/>
            <a:ext cx="3104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668044" y="1077238"/>
            <a:ext cx="8016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417524" y="1242448"/>
            <a:ext cx="2916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</a:t>
            </a:r>
            <a:r>
              <a:rPr lang="en-US" b="1" dirty="0"/>
              <a:t>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 :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2325925" y="22286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2325925" y="68006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0"/>
          <p:cNvSpPr>
            <a:spLocks noChangeArrowheads="1"/>
          </p:cNvSpPr>
          <p:nvPr/>
        </p:nvSpPr>
        <p:spPr bwMode="auto">
          <a:xfrm>
            <a:off x="2325925" y="68006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  <p:pic>
        <p:nvPicPr>
          <p:cNvPr id="12" name="Picture 11" descr="PlantUML diagram">
            <a:extLst>
              <a:ext uri="{FF2B5EF4-FFF2-40B4-BE49-F238E27FC236}">
                <a16:creationId xmlns:a16="http://schemas.microsoft.com/office/drawing/2014/main" id="{62DEB412-3764-F736-6E16-B38371656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726" y="2053988"/>
            <a:ext cx="9527127" cy="4581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8647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897675" y="259466"/>
            <a:ext cx="3104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668044" y="1077238"/>
            <a:ext cx="8016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378821" y="1242448"/>
            <a:ext cx="2460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: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cxnSp>
        <p:nvCxnSpPr>
          <p:cNvPr id="75" name="Straight Arrow Connector 74"/>
          <p:cNvCxnSpPr>
            <a:cxnSpLocks noChangeShapeType="1"/>
          </p:cNvCxnSpPr>
          <p:nvPr/>
        </p:nvCxnSpPr>
        <p:spPr bwMode="auto">
          <a:xfrm>
            <a:off x="5514710" y="7106468"/>
            <a:ext cx="314325" cy="1619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Straight Arrow Connector 75"/>
          <p:cNvCxnSpPr>
            <a:cxnSpLocks noChangeShapeType="1"/>
          </p:cNvCxnSpPr>
          <p:nvPr/>
        </p:nvCxnSpPr>
        <p:spPr bwMode="auto">
          <a:xfrm flipH="1">
            <a:off x="5514710" y="7106468"/>
            <a:ext cx="247650" cy="2190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" name="Straight Connector 79"/>
          <p:cNvCxnSpPr/>
          <p:nvPr/>
        </p:nvCxnSpPr>
        <p:spPr>
          <a:xfrm>
            <a:off x="5667110" y="6632123"/>
            <a:ext cx="0" cy="142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5667110" y="6879773"/>
            <a:ext cx="0" cy="1047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5667110" y="7051223"/>
            <a:ext cx="0" cy="1047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Rectangle 61"/>
          <p:cNvSpPr>
            <a:spLocks noChangeArrowheads="1"/>
          </p:cNvSpPr>
          <p:nvPr/>
        </p:nvSpPr>
        <p:spPr bwMode="auto">
          <a:xfrm>
            <a:off x="3984178" y="-35269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85" name="Rectangle 66"/>
          <p:cNvSpPr>
            <a:spLocks noChangeArrowheads="1"/>
          </p:cNvSpPr>
          <p:nvPr/>
        </p:nvSpPr>
        <p:spPr bwMode="auto">
          <a:xfrm>
            <a:off x="3984178" y="1045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6" name="Rectangle 77"/>
          <p:cNvSpPr>
            <a:spLocks noChangeArrowheads="1"/>
          </p:cNvSpPr>
          <p:nvPr/>
        </p:nvSpPr>
        <p:spPr bwMode="auto">
          <a:xfrm>
            <a:off x="3984178" y="-164803"/>
            <a:ext cx="248786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7" name="Rectangle 78"/>
          <p:cNvSpPr>
            <a:spLocks noChangeArrowheads="1"/>
          </p:cNvSpPr>
          <p:nvPr/>
        </p:nvSpPr>
        <p:spPr bwMode="auto">
          <a:xfrm>
            <a:off x="4441378" y="10450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  <p:pic>
        <p:nvPicPr>
          <p:cNvPr id="2" name="Picture 1" descr="PlantUML diagram">
            <a:extLst>
              <a:ext uri="{FF2B5EF4-FFF2-40B4-BE49-F238E27FC236}">
                <a16:creationId xmlns:a16="http://schemas.microsoft.com/office/drawing/2014/main" id="{FA4DF606-0CC5-1209-8384-ADE58D6230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044" y="1609229"/>
            <a:ext cx="9181055" cy="51442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8421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897675" y="259466"/>
            <a:ext cx="3104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668044" y="1077238"/>
            <a:ext cx="8016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378821" y="1242448"/>
            <a:ext cx="2127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: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  <p:pic>
        <p:nvPicPr>
          <p:cNvPr id="2" name="Picture 1" descr="PlantUML diagram">
            <a:extLst>
              <a:ext uri="{FF2B5EF4-FFF2-40B4-BE49-F238E27FC236}">
                <a16:creationId xmlns:a16="http://schemas.microsoft.com/office/drawing/2014/main" id="{05A91525-0B0F-04BF-9D43-4DA2C17D42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988" y="1638299"/>
            <a:ext cx="7557796" cy="51077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607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897675" y="259466"/>
            <a:ext cx="3104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668044" y="1077238"/>
            <a:ext cx="8016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378821" y="1242448"/>
            <a:ext cx="2691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Diagram :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2906038" y="-12978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2906038" y="32741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668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668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668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668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668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668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668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668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668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68463" algn="l"/>
              </a:tabLst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68463" algn="l"/>
              </a:tabLst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68463" algn="l"/>
              </a:tabLst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  <p:pic>
        <p:nvPicPr>
          <p:cNvPr id="6" name="Picture 5" descr="PlantUML diagram">
            <a:extLst>
              <a:ext uri="{FF2B5EF4-FFF2-40B4-BE49-F238E27FC236}">
                <a16:creationId xmlns:a16="http://schemas.microsoft.com/office/drawing/2014/main" id="{9B0F0672-4ED4-1E16-1C0C-60D1A5F60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725" y="1655620"/>
            <a:ext cx="9718848" cy="50880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442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71375" y="259466"/>
            <a:ext cx="3493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Medilife Layouts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668044" y="1077238"/>
            <a:ext cx="8016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505334" y="1077238"/>
            <a:ext cx="2027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Screens :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46FB1E-0C4F-2F62-1054-52C04A991A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963" y="1521182"/>
            <a:ext cx="8367706" cy="522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466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71375" y="259466"/>
            <a:ext cx="3493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Medilife Layouts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668044" y="1077238"/>
            <a:ext cx="8016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406725" y="1077238"/>
            <a:ext cx="2027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Screens :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1EC020E-9B10-727E-5A1F-0CAFB47A0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725" y="1446571"/>
            <a:ext cx="4141937" cy="50568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9409D5-4FC9-67DE-1B78-2E3CB4FC192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13"/>
          <a:stretch>
            <a:fillRect/>
          </a:stretch>
        </p:blipFill>
        <p:spPr bwMode="auto">
          <a:xfrm>
            <a:off x="6796871" y="1446570"/>
            <a:ext cx="4934041" cy="50568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7942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71375" y="259466"/>
            <a:ext cx="3493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Medilife Layouts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668044" y="1077238"/>
            <a:ext cx="8016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575056" y="1077238"/>
            <a:ext cx="2027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Screens :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7A54C6-52E3-0846-21C9-F8914BDC7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432" y="1446570"/>
            <a:ext cx="4523495" cy="53367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574A03-8A19-C448-6243-832639C0B5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634" y="1390264"/>
            <a:ext cx="4765517" cy="539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053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71375" y="259466"/>
            <a:ext cx="3493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Medilife Layouts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668044" y="1077238"/>
            <a:ext cx="8016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496003" y="1099950"/>
            <a:ext cx="2027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Screens :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8DB5443-3EA1-A750-46A2-7664CDFC27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003" y="1491998"/>
            <a:ext cx="4719437" cy="53660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17986E-8B18-8578-606A-D8CBE744E3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718" y="1491997"/>
            <a:ext cx="4364874" cy="536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00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29C80-EA2C-0536-1A94-6BFD050A8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3B3A07-59D6-1805-5E29-C83EBC27D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039C97-9D20-DAEA-A1D5-2A37920A91CD}"/>
              </a:ext>
            </a:extLst>
          </p:cNvPr>
          <p:cNvSpPr txBox="1"/>
          <p:nvPr/>
        </p:nvSpPr>
        <p:spPr>
          <a:xfrm>
            <a:off x="4271375" y="259466"/>
            <a:ext cx="3493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Medilife Layouts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03E7DE-126A-2558-5929-CBF01655E895}"/>
              </a:ext>
            </a:extLst>
          </p:cNvPr>
          <p:cNvCxnSpPr/>
          <p:nvPr/>
        </p:nvCxnSpPr>
        <p:spPr>
          <a:xfrm>
            <a:off x="2668044" y="1077238"/>
            <a:ext cx="8016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736F2B-F2E5-D47C-7610-45A01E91DA41}"/>
              </a:ext>
            </a:extLst>
          </p:cNvPr>
          <p:cNvSpPr txBox="1"/>
          <p:nvPr/>
        </p:nvSpPr>
        <p:spPr>
          <a:xfrm>
            <a:off x="2496003" y="1099950"/>
            <a:ext cx="2193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 :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03FFDE-D795-5B5E-B198-0CE3E4372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8B66BD-063E-2A50-F632-D10045537B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653" y="1491993"/>
            <a:ext cx="4730620" cy="52540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741849-A2B2-9173-0487-A01D8338F8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273" y="1491993"/>
            <a:ext cx="4833258" cy="525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08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3A57-573B-8AED-DCC5-FC77B6A33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12715-08F1-5DF2-E410-9BA47367D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31ED86-3DDD-D1E7-AD61-CFE5267D5267}"/>
              </a:ext>
            </a:extLst>
          </p:cNvPr>
          <p:cNvSpPr txBox="1"/>
          <p:nvPr/>
        </p:nvSpPr>
        <p:spPr>
          <a:xfrm>
            <a:off x="4271375" y="259466"/>
            <a:ext cx="3493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Medilife Layouts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4EB135-64CA-B1A3-3354-155BD8E0B6D6}"/>
              </a:ext>
            </a:extLst>
          </p:cNvPr>
          <p:cNvCxnSpPr/>
          <p:nvPr/>
        </p:nvCxnSpPr>
        <p:spPr>
          <a:xfrm>
            <a:off x="2668044" y="1077238"/>
            <a:ext cx="8016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0D6115-62FF-9E45-9CB8-8C18127A3F4D}"/>
              </a:ext>
            </a:extLst>
          </p:cNvPr>
          <p:cNvSpPr txBox="1"/>
          <p:nvPr/>
        </p:nvSpPr>
        <p:spPr>
          <a:xfrm>
            <a:off x="2496003" y="1099950"/>
            <a:ext cx="2193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 :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C937EA-6521-D746-DC7A-2E5A91142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F3F4109-4F4E-1FB9-E367-733255151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523" y="1622781"/>
            <a:ext cx="4682114" cy="51139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901825-566D-8836-D024-FC95C0AC06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636" y="1613326"/>
            <a:ext cx="4795935" cy="511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228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3DE88-334D-0C7B-98F1-48FCF8644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A53283-4E8A-F81E-2011-5A494FE5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CD022F-9A83-96B5-6568-4115609BDF6E}"/>
              </a:ext>
            </a:extLst>
          </p:cNvPr>
          <p:cNvSpPr txBox="1"/>
          <p:nvPr/>
        </p:nvSpPr>
        <p:spPr>
          <a:xfrm>
            <a:off x="4271375" y="259466"/>
            <a:ext cx="3493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Medilife Layouts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9520A6-85AF-6753-C251-965F17038D6C}"/>
              </a:ext>
            </a:extLst>
          </p:cNvPr>
          <p:cNvCxnSpPr/>
          <p:nvPr/>
        </p:nvCxnSpPr>
        <p:spPr>
          <a:xfrm>
            <a:off x="2668044" y="1077238"/>
            <a:ext cx="8016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CBA4B8E-BD03-E5FC-189E-31A15F622E65}"/>
              </a:ext>
            </a:extLst>
          </p:cNvPr>
          <p:cNvSpPr txBox="1"/>
          <p:nvPr/>
        </p:nvSpPr>
        <p:spPr>
          <a:xfrm>
            <a:off x="2496003" y="1099950"/>
            <a:ext cx="2193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 :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31D080-0E76-5F5A-4678-4149BDEB2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164AD1-AD56-ECBB-AA2E-F0805144FC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863" y="1509789"/>
            <a:ext cx="5192651" cy="51709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825B3D-8533-B3B3-54B1-968FA60541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514" y="1509789"/>
            <a:ext cx="4683968" cy="517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116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C09CF-0A42-A324-5CAA-3D75561FC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EEA9E5-AA28-BEDC-3EBE-FB8AFD257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1B5972-65DA-C33E-31AC-398C17ACA962}"/>
              </a:ext>
            </a:extLst>
          </p:cNvPr>
          <p:cNvSpPr txBox="1"/>
          <p:nvPr/>
        </p:nvSpPr>
        <p:spPr>
          <a:xfrm>
            <a:off x="4271375" y="259466"/>
            <a:ext cx="3493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Medilife Layouts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BA0CD36-7B51-CC48-B5BF-1BA1E5594D69}"/>
              </a:ext>
            </a:extLst>
          </p:cNvPr>
          <p:cNvCxnSpPr/>
          <p:nvPr/>
        </p:nvCxnSpPr>
        <p:spPr>
          <a:xfrm>
            <a:off x="2668044" y="1077238"/>
            <a:ext cx="8016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115F4B7-AA60-D9B0-4001-C912A804A326}"/>
              </a:ext>
            </a:extLst>
          </p:cNvPr>
          <p:cNvSpPr txBox="1"/>
          <p:nvPr/>
        </p:nvSpPr>
        <p:spPr>
          <a:xfrm>
            <a:off x="2496003" y="1099950"/>
            <a:ext cx="2193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 :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925161-1011-C76D-3353-290EE7081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25CC44-966E-DCB8-9ACC-166C671B64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987" y="1522804"/>
            <a:ext cx="9086164" cy="21236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016592-F5A8-6D69-0B70-200AD79D75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987" y="3646419"/>
            <a:ext cx="9086164" cy="295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45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60613" y="617538"/>
            <a:ext cx="8915400" cy="493712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Enhancement: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 Placeholder 3"/>
          <p:cNvSpPr txBox="1">
            <a:spLocks/>
          </p:cNvSpPr>
          <p:nvPr/>
        </p:nvSpPr>
        <p:spPr>
          <a:xfrm>
            <a:off x="2322513" y="3322638"/>
            <a:ext cx="8915400" cy="49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77425B-2706-8E91-8908-8BF7471E1486}"/>
              </a:ext>
            </a:extLst>
          </p:cNvPr>
          <p:cNvSpPr txBox="1"/>
          <p:nvPr/>
        </p:nvSpPr>
        <p:spPr>
          <a:xfrm>
            <a:off x="2911150" y="1062782"/>
            <a:ext cx="80523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disease modules like brain tumor, skin cancer, dengue, tuberculosis, and thyroid disorder can be integrated.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for Android and iOS to improve accessibility for remote area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patient monitoring using IoT devices and wearable sensors for health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Hospital Management Systems (HMS) and Electronic Health Records (EHR).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chatbot using advanced LLMs and NLP for smarter healthcare guidance.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Telemedicine support with video consultation to connect patients with specialists remotely.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0D86ED7-344A-C89D-A091-C6CD06FAB9C1}"/>
              </a:ext>
            </a:extLst>
          </p:cNvPr>
          <p:cNvCxnSpPr/>
          <p:nvPr/>
        </p:nvCxnSpPr>
        <p:spPr>
          <a:xfrm>
            <a:off x="2547256" y="631086"/>
            <a:ext cx="8016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1C5E3BF-5475-8AC5-46B9-D30D4DCFFE56}"/>
              </a:ext>
            </a:extLst>
          </p:cNvPr>
          <p:cNvSpPr txBox="1"/>
          <p:nvPr/>
        </p:nvSpPr>
        <p:spPr>
          <a:xfrm>
            <a:off x="2911150" y="3888376"/>
            <a:ext cx="82528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Documentation – Backend web development and API creation.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Documentation – Deep Learning and image classification.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 – Machine Learning algorithms and prediction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Documentation – Database design and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Keras Documentation – Deep Learning model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&amp; Pandas Documentation – Data preprocessing and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on Medical AI and Disease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Machine Learning – Reference for ML concepts.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Machine Learning with Scikit-Learn, Keras, and TensorFlow.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71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07080" y="2555310"/>
            <a:ext cx="5716630" cy="144655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isometricOffAxis1Right"/>
              <a:lightRig rig="threePt" dir="t"/>
            </a:scene3d>
          </a:bodyPr>
          <a:lstStyle/>
          <a:p>
            <a:r>
              <a:rPr lang="en-US" sz="8800" b="1" dirty="0">
                <a:ln w="9525">
                  <a:solidFill>
                    <a:schemeClr val="accent2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Monotype Corsiva" panose="03010101010201010101" pitchFamily="66" charset="0"/>
                <a:cs typeface="Times New Roman" panose="02020603050405020304" pitchFamily="18" charset="0"/>
              </a:rPr>
              <a:t>Thank You…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5458" y="292222"/>
            <a:ext cx="2539683" cy="195555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92222"/>
            <a:ext cx="1874913" cy="187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01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215</TotalTime>
  <Words>625</Words>
  <Application>Microsoft Office PowerPoint</Application>
  <PresentationFormat>Widescreen</PresentationFormat>
  <Paragraphs>113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Century Gothic</vt:lpstr>
      <vt:lpstr>Monotype Corsiva</vt:lpstr>
      <vt:lpstr>Times New Roman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SWAPNIL</dc:creator>
  <cp:lastModifiedBy>Pramod Deore</cp:lastModifiedBy>
  <cp:revision>23</cp:revision>
  <dcterms:created xsi:type="dcterms:W3CDTF">2014-12-12T05:02:57Z</dcterms:created>
  <dcterms:modified xsi:type="dcterms:W3CDTF">2026-05-15T11:00:07Z</dcterms:modified>
</cp:coreProperties>
</file>